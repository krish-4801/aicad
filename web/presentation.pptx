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6400" b="1">
                <a:solidFill>
                  <a:srgbClr val="F8FAFC"/>
                </a:solidFill>
                <a:latin typeface="Outfit"/>
              </a:defRPr>
            </a:pPr>
            <a:r>
              <a:t>AICAD</a:t>
            </a:r>
          </a:p>
          <a:p>
            <a:pPr>
              <a:spcAft>
                <a:spcPts val="2000"/>
              </a:spcAft>
              <a:defRPr sz="2800" b="1">
                <a:solidFill>
                  <a:srgbClr val="14B8A6"/>
                </a:solidFill>
                <a:latin typeface="Outfit"/>
              </a:defRPr>
            </a:pPr>
            <a:r>
              <a:t>Natural Language 3D CAD Generation</a:t>
            </a:r>
          </a:p>
          <a:p>
            <a:pPr>
              <a:defRPr sz="1600">
                <a:solidFill>
                  <a:srgbClr val="94A3B8"/>
                </a:solidFill>
                <a:latin typeface="Inter"/>
              </a:defRPr>
            </a:pPr>
            <a:r>
              <a:t>Bridging generative AI and parametric boundary-representation modeling workflows. Speak in prose, engineer in solid code models, compile watertight STEP assets.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Inter"/>
              </a:defRPr>
            </a:pPr>
            <a:r>
              <a:t>AICAD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Outfit"/>
              </a:defRPr>
            </a:pPr>
            <a:r>
              <a:t>The Problem &amp;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855F7"/>
                </a:solidFill>
                <a:latin typeface="Outfit"/>
              </a:defRPr>
            </a:pPr>
            <a:r>
              <a:t>The Limitations Today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High Learning Curve: Traditional CAD programs require deep GUI modeling and coordinates training.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Static AI Output: Existing AI 3D model generators export triangulated polygonal meshes (STL/OBJ).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Non-Parametric: Meshes cannot be cleanly edited, resized, hollowed, or fitted with holes in professional engineering workflows.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Industrial Mismatch: CNC, injection molding, and aerospace tooling require mathematically precise CAD formats (STEP/IGES).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4B8A6"/>
                </a:solidFill>
                <a:latin typeface="Outfit"/>
              </a:defRPr>
            </a:pPr>
            <a:r>
              <a:t>The AICAD Solution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Prose-to-CAD: Express structural intent in natural language description phrases.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Deterministic Code: Translation of description into build123d Python script models rather than directly guessing vertices.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Watertight Solid Compilation: Real-time compiling of standard geometries using OpenCascade CAD kernel.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Direct B-Rep Exports: Produces standard STEP files as primary source of truth, retaining editable curves, faces, and design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Inter"/>
              </a:defRPr>
            </a:pPr>
            <a:r>
              <a:t>AICAD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Outfit"/>
              </a:defRPr>
            </a:pPr>
            <a:r>
              <a:t>System Architecture &amp; Pipeline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9202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4B8A6"/>
                </a:solidFill>
                <a:latin typeface="Outfit"/>
              </a:defRPr>
            </a:pPr>
            <a:r>
              <a:t>1. Input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User describes part via terminal or the interactive Web UI.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Prompts can specify dimensions, holes, fillets, and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2103120"/>
            <a:ext cx="19202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855F7"/>
                </a:solidFill>
                <a:latin typeface="Outfit"/>
              </a:defRPr>
            </a:pPr>
            <a:r>
              <a:t>2. Translate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Gemini CLI Agent wakes up and parses the prompt.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Generates verified Python script using the build123d library syntax.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19202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  <a:latin typeface="Outfit"/>
              </a:defRPr>
            </a:pPr>
            <a:r>
              <a:t>3. Compile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Subprocess runner calls OCP (OpenCascade) to build the solids.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Validates volume and face watertight status, writing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2103120"/>
            <a:ext cx="19202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4B8A6"/>
                </a:solidFill>
                <a:latin typeface="Outfit"/>
              </a:defRPr>
            </a:pPr>
            <a:r>
              <a:t>4. Export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Converts parent STEP to STL (3D Printing mesh), 3MF (metadata slicer), or DXF (2D Laser CNC).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Loads details to Web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Inter"/>
              </a:defRPr>
            </a:pPr>
            <a:r>
              <a:t>AICAD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Outfit"/>
              </a:defRPr>
            </a:pPr>
            <a:r>
              <a:t>Under the Hood: build123d &amp; OpenCascade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855F7"/>
                </a:solidFill>
                <a:latin typeface="Outfit"/>
              </a:defRPr>
            </a:pPr>
            <a:r>
              <a:t>OpenCascade Technology (OCP)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Industrial standard B-Rep (Boundary Representation) geometric kernel.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Calculates exact curves, arcs, splines, and boolean cuts programmatically.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Provides solid geometry structures with high tolerances and precision.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Guarantees that files export cleanly to SolidWorks, Fusion 360, and CNC tooling.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4B8A6"/>
                </a:solidFill>
                <a:latin typeface="Outfit"/>
              </a:defRPr>
            </a:pPr>
            <a:r>
              <a:t>Why build123d?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High-level Python wrapper with clear, readable CAD modeling semantics.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Supports algebraic operators (extrude, revolve, loft, sweep, sweep_path).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Coordinate system helper frames allow easy hole alignments and relative offsets.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Ideal for AI code generation due to consistent structures, object-oriented APIs, and descriptive docstrings.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Inter"/>
              </a:defRPr>
            </a:pPr>
            <a:r>
              <a:t>AICAD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Outfit"/>
              </a:defRPr>
            </a:pPr>
            <a:r>
              <a:t>Interactive Web User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9377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4B8A6"/>
                </a:solidFill>
                <a:latin typeface="Outfit"/>
              </a:defRPr>
            </a:pPr>
            <a:r>
              <a:t>A Modern Browser Experience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Live Progress Tracker: Real-time visibility into agent states (Queued -&gt; Coding -&gt; Compiling -&gt; Rendering -&gt; Completed).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Interactive WebGL Viewer: Three.js integration displays converted STL models directly in the viewport. Drag to rotate, scroll to zoom, right-click to pan.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Code &amp; Render Side-by-Side: View the compiled python source code and the rendered rasterized snapshot side-by-side.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Direct Artifact Downloads: Single-click download links for industrial-grade STEP files, STL meshes, and raw python builders.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Status Log Streaming: Raw compilation stderr/stdout output streams for instant developers debugging.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gine_cylinder_20260605T101149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Inter"/>
              </a:defRPr>
            </a:pPr>
            <a:r>
              <a:t>AICAD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Outfit"/>
              </a:defRPr>
            </a:pPr>
            <a:r>
              <a:t>Case Studies &amp; Compiled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9377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855F7"/>
                </a:solidFill>
                <a:latin typeface="Outfit"/>
              </a:defRPr>
            </a:pPr>
            <a:r>
              <a:t>Parametric Models Produced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Engine Cylinder (Complex Parametric solid):</a:t>
            </a:r>
            <a:br/>
            <a:r>
              <a:t>- A central piston cylinder chamber with radial cooling fins.</a:t>
            </a:r>
            <a:br/>
            <a:r>
              <a:t>- Bolt circle attachment mounting flanges.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L-Bracket (Structural attachment):</a:t>
            </a:r>
            <a:br/>
            <a:r>
              <a:t>- 50mm leg lengths, 4mm thick solid face.</a:t>
            </a:r>
            <a:br/>
            <a:r>
              <a:t>- Auto-positioned M4 countersunk holes.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M5 Hex Nut (Mechanical standard):</a:t>
            </a:r>
            <a:br/>
            <a:r>
              <a:t>- Exact 10mm flat-to-flat distance hex profile.</a:t>
            </a:r>
            <a:br/>
            <a:r>
              <a:t>- Inner clearance cylinder with thread tolerancing.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2331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napshot_20260706T153605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03120"/>
            <a:ext cx="2148840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4389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B8A6"/>
                </a:solidFill>
                <a:latin typeface="Outfit"/>
              </a:defRPr>
            </a:pPr>
            <a:r>
              <a:t>Generated M5 Hex Nut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645920"/>
            <a:ext cx="2331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napshot_20260706T155103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103120"/>
            <a:ext cx="214884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8280" y="4389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855F7"/>
                </a:solidFill>
                <a:latin typeface="Outfit"/>
              </a:defRPr>
            </a:pPr>
            <a:r>
              <a:t>Generated L-Bracket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Inter"/>
              </a:defRPr>
            </a:pPr>
            <a:r>
              <a:t>AICAD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Outfit"/>
              </a:defRPr>
            </a:pPr>
            <a:r>
              <a:t>Conclusion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855F7"/>
                </a:solidFill>
                <a:latin typeface="Outfit"/>
              </a:defRPr>
            </a:pPr>
            <a:r>
              <a:t>Project Achievements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Prototyped a complete Text-to-CAD translation pipeline combining LLMs with build123d.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Established automated execution, inspection, and format conversion workflows.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Designed and implemented a responsive, real-time web interface.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Created a zero-install local environment powered by uv package manager.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4B8A6"/>
                </a:solidFill>
                <a:latin typeface="Outfit"/>
              </a:defRPr>
            </a:pPr>
            <a:r>
              <a:t>The Road Ahead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Constraint-Based Assemblies: Move from individual solid parts to complex mechanical assemblies with mated joints.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Fine-Tuned Modeling Agents: Train specialized models on standard libraries and engineering handbook databases.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Automated Technical Blueprints: Generate standard 2D technical drawings with automatic dimension callouts in DXF.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CAD Integrations: Directly plug output scripts into professional CAD platforms (FreeCAD, Fusion 360, Onshape).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